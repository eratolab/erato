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(Million USD)</c:v>
                </c:pt>
              </c:strCache>
            </c:strRef>
          </c:tx>
          <c:marker>
            <c:symbol val="none"/>
          </c:marker>
          <c:cat>
            <c:numRef>
              <c:f>Sheet1!$A$2:$A$27</c:f>
              <c:numCache>
                <c:formatCode>General</c:formatCode>
                <c:ptCount val="26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</c:numCache>
            </c:num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120</c:v>
                </c:pt>
                <c:pt idx="1">
                  <c:v>125</c:v>
                </c:pt>
                <c:pt idx="2">
                  <c:v>130</c:v>
                </c:pt>
                <c:pt idx="3">
                  <c:v>138</c:v>
                </c:pt>
                <c:pt idx="4">
                  <c:v>145</c:v>
                </c:pt>
                <c:pt idx="5">
                  <c:v>155</c:v>
                </c:pt>
                <c:pt idx="6">
                  <c:v>165</c:v>
                </c:pt>
                <c:pt idx="7">
                  <c:v>180</c:v>
                </c:pt>
                <c:pt idx="8">
                  <c:v>190</c:v>
                </c:pt>
                <c:pt idx="9">
                  <c:v>185</c:v>
                </c:pt>
                <c:pt idx="10">
                  <c:v>200</c:v>
                </c:pt>
                <c:pt idx="11">
                  <c:v>215</c:v>
                </c:pt>
                <c:pt idx="12">
                  <c:v>230</c:v>
                </c:pt>
                <c:pt idx="13">
                  <c:v>245</c:v>
                </c:pt>
                <c:pt idx="14">
                  <c:v>260</c:v>
                </c:pt>
                <c:pt idx="15">
                  <c:v>280</c:v>
                </c:pt>
                <c:pt idx="16">
                  <c:v>300</c:v>
                </c:pt>
                <c:pt idx="17">
                  <c:v>320</c:v>
                </c:pt>
                <c:pt idx="18">
                  <c:v>345</c:v>
                </c:pt>
                <c:pt idx="19">
                  <c:v>360</c:v>
                </c:pt>
                <c:pt idx="20">
                  <c:v>350</c:v>
                </c:pt>
                <c:pt idx="21">
                  <c:v>380</c:v>
                </c:pt>
                <c:pt idx="22">
                  <c:v>410</c:v>
                </c:pt>
                <c:pt idx="23">
                  <c:v>445</c:v>
                </c:pt>
                <c:pt idx="24">
                  <c:v>480</c:v>
                </c:pt>
                <c:pt idx="25">
                  <c:v>520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Engineering</c:v>
                </c:pt>
              </c:strCache>
            </c:strRef>
          </c:tx>
          <c:cat>
            <c:numRef>
              <c:f>Sheet1!$A$2:$A$7</c:f>
              <c:numCache>
                <c:formatCode>General</c:formatCode>
                <c:ptCount val="6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2020</c:v>
                </c:pt>
                <c:pt idx="5">
                  <c:v>2025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60</c:v>
                </c:pt>
                <c:pt idx="2">
                  <c:v>90</c:v>
                </c:pt>
                <c:pt idx="3">
                  <c:v>130</c:v>
                </c:pt>
                <c:pt idx="4">
                  <c:v>170</c:v>
                </c:pt>
                <c:pt idx="5">
                  <c:v>220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</c:v>
                </c:pt>
              </c:strCache>
            </c:strRef>
          </c:tx>
          <c:cat>
            <c:numRef>
              <c:f>Sheet1!$A$2:$A$7</c:f>
              <c:numCache>
                <c:formatCode>General</c:formatCode>
                <c:ptCount val="6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2020</c:v>
                </c:pt>
                <c:pt idx="5">
                  <c:v>2025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25</c:v>
                </c:pt>
                <c:pt idx="1">
                  <c:v>40</c:v>
                </c:pt>
                <c:pt idx="2">
                  <c:v>70</c:v>
                </c:pt>
                <c:pt idx="3">
                  <c:v>100</c:v>
                </c:pt>
                <c:pt idx="4">
                  <c:v>140</c:v>
                </c:pt>
                <c:pt idx="5">
                  <c:v>190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Marketing</c:v>
                </c:pt>
              </c:strCache>
            </c:strRef>
          </c:tx>
          <c:cat>
            <c:numRef>
              <c:f>Sheet1!$A$2:$A$7</c:f>
              <c:numCache>
                <c:formatCode>General</c:formatCode>
                <c:ptCount val="6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2020</c:v>
                </c:pt>
                <c:pt idx="5">
                  <c:v>2025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  <c:pt idx="0">
                  <c:v>15</c:v>
                </c:pt>
                <c:pt idx="1">
                  <c:v>25</c:v>
                </c:pt>
                <c:pt idx="2">
                  <c:v>40</c:v>
                </c:pt>
                <c:pt idx="3">
                  <c:v>60</c:v>
                </c:pt>
                <c:pt idx="4">
                  <c:v>85</c:v>
                </c:pt>
                <c:pt idx="5">
                  <c:v>120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Operations</c:v>
                </c:pt>
              </c:strCache>
            </c:strRef>
          </c:tx>
          <c:cat>
            <c:numRef>
              <c:f>Sheet1!$A$2:$A$7</c:f>
              <c:numCache>
                <c:formatCode>General</c:formatCode>
                <c:ptCount val="6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2020</c:v>
                </c:pt>
                <c:pt idx="5">
                  <c:v>2025</c:v>
                </c:pt>
              </c:numCache>
            </c:numRef>
          </c:cat>
          <c:val>
            <c:numRef>
              <c:f>Sheet1!$E$2:$E$7</c:f>
              <c:numCache>
                <c:formatCode>General</c:formatCode>
                <c:ptCount val="6"/>
                <c:pt idx="0">
                  <c:v>20</c:v>
                </c:pt>
                <c:pt idx="1">
                  <c:v>30</c:v>
                </c:pt>
                <c:pt idx="2">
                  <c:v>45</c:v>
                </c:pt>
                <c:pt idx="3">
                  <c:v>70</c:v>
                </c:pt>
                <c:pt idx="4">
                  <c:v>95</c:v>
                </c:pt>
                <c:pt idx="5">
                  <c:v>130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HR</c:v>
                </c:pt>
              </c:strCache>
            </c:strRef>
          </c:tx>
          <c:cat>
            <c:numRef>
              <c:f>Sheet1!$A$2:$A$7</c:f>
              <c:numCache>
                <c:formatCode>General</c:formatCode>
                <c:ptCount val="6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2020</c:v>
                </c:pt>
                <c:pt idx="5">
                  <c:v>2025</c:v>
                </c:pt>
              </c:numCache>
            </c:numRef>
          </c:cat>
          <c:val>
            <c:numRef>
              <c:f>Sheet1!$F$2:$F$7</c:f>
              <c:numCache>
                <c:formatCode>General</c:formatCode>
                <c:ptCount val="6"/>
                <c:pt idx="0">
                  <c:v>5</c:v>
                </c:pt>
                <c:pt idx="1">
                  <c:v>8</c:v>
                </c:pt>
                <c:pt idx="2">
                  <c:v>12</c:v>
                </c:pt>
                <c:pt idx="3">
                  <c:v>18</c:v>
                </c:pt>
                <c:pt idx="4">
                  <c:v>25</c:v>
                </c:pt>
                <c:pt idx="5">
                  <c:v>35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Finance</c:v>
                </c:pt>
              </c:strCache>
            </c:strRef>
          </c:tx>
          <c:cat>
            <c:numRef>
              <c:f>Sheet1!$A$2:$A$7</c:f>
              <c:numCache>
                <c:formatCode>General</c:formatCode>
                <c:ptCount val="6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2020</c:v>
                </c:pt>
                <c:pt idx="5">
                  <c:v>2025</c:v>
                </c:pt>
              </c:numCache>
            </c:numRef>
          </c:cat>
          <c:val>
            <c:numRef>
              <c:f>Sheet1!$G$2:$G$7</c:f>
              <c:numCache>
                <c:formatCode>General</c:formatCode>
                <c:ptCount val="6"/>
                <c:pt idx="0">
                  <c:v>5</c:v>
                </c:pt>
                <c:pt idx="1">
                  <c:v>7</c:v>
                </c:pt>
                <c:pt idx="2">
                  <c:v>10</c:v>
                </c:pt>
                <c:pt idx="3">
                  <c:v>15</c:v>
                </c:pt>
                <c:pt idx="4">
                  <c:v>22</c:v>
                </c:pt>
                <c:pt idx="5">
                  <c:v>30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Acme Inc.</a:t>
            </a:r>
          </a:p>
          <a:p>
            <a:r>
              <a:t>Company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Revenue and Headcount Development (2000–2025)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Development (2000–2025)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Headcount by Department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Departments &amp; Contacts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Engineering – Alice Johnson</a:t>
            </a:r>
          </a:p>
          <a:p>
            <a:pPr lvl="1"/>
            <a:r>
              <a:t>Sales – Bob Smith</a:t>
            </a:r>
          </a:p>
          <a:p>
            <a:pPr lvl="1"/>
            <a:r>
              <a:t>Marketing – Clara Lee</a:t>
            </a:r>
          </a:p>
          <a:p>
            <a:pPr lvl="1"/>
            <a:r>
              <a:t>Operations – David Brown</a:t>
            </a:r>
          </a:p>
          <a:p>
            <a:pPr lvl="1"/>
            <a:r>
              <a:t>HR – Eva Müller</a:t>
            </a:r>
          </a:p>
          <a:p>
            <a:pPr lvl="1"/>
            <a:r>
              <a:t>Finance – Frank Wilson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